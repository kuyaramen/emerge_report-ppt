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will be discussing Serverless Computing—a modern approach to how applications are built and run in the cloud. My name is [Your Name], and together with my group mates, we will explain what serverless is, how it works, and why it is so important in modern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 let's look at our roadmap for today. We'll start by defining what cloud and serverless computing are. Then, we will look at how it works behind the scenes, the two main types, and the pros and cons. Finally, we'll apply what we've learned to a real-world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serverless, we first need to understand cloud computing. Put simply, cloud computing is just delivering computing services over the internet. Instead of buying a physical server and putting it in your room, you rent one from companies like Amazon, Microsoft, or Google.</a:t>
            </a:r>
          </a:p>
          <a:p/>
          <a:p>
            <a:r>
              <a:t>Quiz Question: What is cloud computing?</a:t>
            </a:r>
          </a:p>
          <a:p>
            <a:r>
              <a:t>Answer: Cloud computing is the delivery of computing services over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what is serverless computing? It is a specific type of cloud computing where developers run code without worrying about managing the servers. An important thing to remember: Serverless does NOT mean there are no servers. Servers definitely exist in massive data centers. It just means you don't have to deal with them.</a:t>
            </a:r>
          </a:p>
          <a:p/>
          <a:p>
            <a:r>
              <a:t>Quiz Question: Why is it called serverless if servers still exist?</a:t>
            </a:r>
          </a:p>
          <a:p>
            <a:r>
              <a:t>Answer: Because the cloud provider manages the underlying servers, so developers do not have to manage them directly.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traditional servers that are always on and waiting, serverless functions only run when something happens. A user sends a request, the cloud receives it, the code spins up, processes the data, returns the result, and then the function shuts down entirely.</a:t>
            </a:r>
          </a:p>
          <a:p/>
          <a:p>
            <a:r>
              <a:t>Quiz Question: What triggers a serverless function to run?</a:t>
            </a:r>
          </a:p>
          <a:p>
            <a:r>
              <a:t>Answer: A request or event can trigger a serverless function.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simple real-life example. Imagine you are on a news website and click 'Get Latest News'. That click sends a request to the cloud. A serverless function wakes up, grabs the latest news from the database, sends it back to your screen, and goes back to sleep.</a:t>
            </a:r>
          </a:p>
          <a:p/>
          <a:p>
            <a:r>
              <a:t>Quiz Question: What does the serverless function do in the news website example?</a:t>
            </a:r>
          </a:p>
          <a:p>
            <a:r>
              <a:t>Answer: It processes the request and retrieves the news from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main flavors of serverless computing you need to know: FaaS and BaaS. FaaS is for when you want to run your own custom code. BaaS is when you want to use ready-made backend features like databases without building them yourself.</a:t>
            </a:r>
          </a:p>
          <a:p/>
          <a:p>
            <a:r>
              <a:t>Quiz Question: What are the two main types of serverless computing discussed in this presentation?</a:t>
            </a:r>
          </a:p>
          <a:p>
            <a:r>
              <a:t>Answer: Function as a Service (FaaS) and Backend as a Service (BaaS).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FaaS. Function as a Service lets you run small pieces of code. You just write the logic, upload it, and the cloud handles the rest. In a FaaS model, code only runs when needed, and you only pay for the exact time it takes to run.</a:t>
            </a:r>
          </a:p>
          <a:p/>
          <a:p>
            <a:r>
              <a:t>Quiz Question: What does FaaS allow developers to run?</a:t>
            </a:r>
          </a:p>
          <a:p>
            <a:r>
              <a:t>Answer: It allows developers to run their own functions or pieces of code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is BaaS, or Backend as a Service. Building a login system or a secure database from scratch is hard. BaaS providers give you these features ready to use out of the box. You just connect your app to them.</a:t>
            </a:r>
          </a:p>
          <a:p/>
          <a:p>
            <a:r>
              <a:t>Quiz Question: What is the main purpose of BaaS?</a:t>
            </a:r>
          </a:p>
          <a:p>
            <a:r>
              <a:t>Answer: To provide ready-made backend services that developers can use in their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difference: FaaS is about running your specific code logic. BaaS is about giving you pre-built tools like databases. Just remember: FaaS equals 'Run my code', and BaaS equals 'Give me backend services'.</a:t>
            </a:r>
          </a:p>
          <a:p/>
          <a:p>
            <a:r>
              <a:t>Quiz Question: Which type of serverless computing focuses on running your own code?</a:t>
            </a:r>
          </a:p>
          <a:p>
            <a:r>
              <a:t>Answer: FaaS — Function as a Service.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companies love serverless? First, no server maintenance. Second, it scales automatically. If your app suddenly goes viral, the platform instantly spins up more function instances to handle the traffic. Third, it's cost-effective; if nobody uses your app, your functions don't run, and you pay zero.</a:t>
            </a:r>
          </a:p>
          <a:p/>
          <a:p>
            <a:r>
              <a:t>Quiz Question: Which advantage allows serverless applications to handle changing numbers of users?</a:t>
            </a:r>
          </a:p>
          <a:p>
            <a:r>
              <a:t>Answer: Automatic scaling.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it’s not perfect. A major issue is 'Cold Starts'. Waking up a sleeping function takes an extra second or two, causing a slight delay for the user. Also, you have execution limits—functions are meant for quick tasks, not hour-long processes.</a:t>
            </a:r>
          </a:p>
          <a:p/>
          <a:p>
            <a:r>
              <a:t>Quiz Question: What is a cold start?</a:t>
            </a:r>
          </a:p>
          <a:p>
            <a:r>
              <a:t>Answer: A cold start is the extra startup delay that may occur when a serverless function environment needs to be prepared.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the two directly: A traditional server is like owning a car. You have to maintain it and pay for it even when you aren't driving. Serverless is like taking a taxi. You only pay for the exact trip, and the company handles the maintenance.</a:t>
            </a:r>
          </a:p>
          <a:p/>
          <a:p>
            <a:r>
              <a:t>Quiz Question: What is the main difference between a traditional server and serverless computing?</a:t>
            </a:r>
          </a:p>
          <a:p>
            <a:r>
              <a:t>Answer: In traditional server computing, the developer manages the server. In serverless computing, the cloud provider manages the underlying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point of confusion is thinking cloud and serverless are two completely different things. They aren't. Cloud computing is the massive overarching category. Serverless computing is just one specific way to use the cloud.</a:t>
            </a:r>
          </a:p>
          <a:p/>
          <a:p>
            <a:r>
              <a:t>Quiz Question: Is serverless computing a type of cloud computing?</a:t>
            </a:r>
          </a:p>
          <a:p>
            <a:r>
              <a:t>Answer: Yes. Serverless computing is a cloud computing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some of the biggest names in the industry. AWS Lambda and Google Cloud Functions are your classic FaaS providers. Vercel is highly popular for hosting modern websites that use serverless APIs. And Supabase is a fantastic example of a BaaS providing database services.</a:t>
            </a:r>
          </a:p>
          <a:p/>
          <a:p>
            <a:r>
              <a:t>Quiz Question: Which service is an example of a platform that runs serverless functions?</a:t>
            </a:r>
          </a:p>
          <a:p>
            <a:r>
              <a:t>Answer: AWS Lambda is one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this to a practical project like SDN PRIME. If an admin wants to post news, they fill out a form. Instead of a traditional server, a Vercel serverless function catches that data, makes sure it's valid, and saves it into a Supabase database.</a:t>
            </a:r>
          </a:p>
          <a:p/>
          <a:p>
            <a:r>
              <a:t>Quiz Question: How can serverless computing help an SDN PRIME website?</a:t>
            </a:r>
          </a:p>
          <a:p>
            <a:r>
              <a:t>Answer: It can run backend functions that process requests, save content, and retrieve information without requiring the project team to manage the underlying servers.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is amazing, but it isn't for everything. It is perfect for APIs, form submissions, and websites where traffic goes up and down. But if you have long-running or specialized workloads, a traditional dedicated server might be a better choice.</a:t>
            </a:r>
          </a:p>
          <a:p/>
          <a:p>
            <a:r>
              <a:t>Quiz Question: Give one example of an application task that can use serverless computing.</a:t>
            </a:r>
          </a:p>
          <a:p>
            <a:r>
              <a:t>Answer: An API request, form submission, or website backend function.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our main concepts: Serverless means the cloud provider manages the servers. FaaS is for running code, BaaS is for backend services. It scales easily and saves money, but you do have to watch out for cold starts and execution limits.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what everyone remembers!</a:t>
            </a:r>
          </a:p>
          <a:p/>
          <a:p>
            <a:r>
              <a:t>1. What is serverless? (Answer: A cloud model where providers manage the servers.)</a:t>
            </a:r>
          </a:p>
          <a:p>
            <a:r>
              <a:t>2. What does FaaS stand for? (Answer: Function as a Service.)</a:t>
            </a:r>
          </a:p>
          <a:p>
            <a:r>
              <a:t>3. What does BaaS stand for? (Answer: Backend as a Service.)</a:t>
            </a:r>
          </a:p>
          <a:p>
            <a:r>
              <a:t>4. Why is automatic scaling an advantage? (Answer: It allows apps to handle changing numbers of users automatically.)</a:t>
            </a:r>
          </a:p>
          <a:p>
            <a:r>
              <a:t>5. Is serverless the same as cloud computing? (Answer: No, serverless is a specific model within the broader category of cloud computing.)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listening. Serverless computing is truly the future of web development, allowing us to focus on writing great apps rather than managing hardware. Are there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ctrTitle"/>
          </p:nvPr>
        </p:nvSpPr>
        <p:spPr/>
        <p:txBody>
          <a:bodyPr/>
          <a:lstStyle/>
          <a:p>
            <a:pPr>
              <a:defRPr sz="5000" b="1">
                <a:solidFill>
                  <a:srgbClr val="FFFFFF"/>
                </a:solidFill>
                <a:latin typeface="Arial"/>
              </a:defRPr>
            </a:pPr>
            <a:r>
              <a:t>SERVERLESS COMPUTING</a:t>
            </a:r>
          </a:p>
        </p:txBody>
      </p:sp>
      <p:sp>
        <p:nvSpPr>
          <p:cNvPr id="3" name="Subtitle 2"/>
          <p:cNvSpPr>
            <a:spLocks noGrp="1"/>
          </p:cNvSpPr>
          <p:nvPr>
            <p:ph type="subTitle" idx="1"/>
          </p:nvPr>
        </p:nvSpPr>
        <p:spPr/>
        <p:txBody>
          <a:bodyPr wrap="square"/>
          <a:lstStyle/>
          <a:p>
            <a:pPr>
              <a:defRPr sz="2000">
                <a:solidFill>
                  <a:srgbClr val="E6F0FF"/>
                </a:solidFill>
                <a:latin typeface="Arial"/>
              </a:defRPr>
            </a:pPr>
            <a:r>
              <a:t>Understanding Cloud-Based Application Execution</a:t>
            </a:r>
            <a:br/>
          </a:p>
          <a:p>
            <a:pPr>
              <a:defRPr sz="2000">
                <a:solidFill>
                  <a:srgbClr val="E6F0FF"/>
                </a:solidFill>
                <a:latin typeface="Arial"/>
              </a:defRPr>
            </a:pPr>
            <a:r>
              <a:t>Course: EMERGING TECHNOLOGY</a:t>
            </a:r>
          </a:p>
          <a:p>
            <a:pPr>
              <a:defRPr sz="2000">
                <a:solidFill>
                  <a:srgbClr val="E6F0FF"/>
                </a:solidFill>
                <a:latin typeface="Arial"/>
              </a:defRPr>
            </a:pPr>
            <a:r>
              <a:t>Instructor: Engr. Catherine M. Verallo</a:t>
            </a:r>
          </a:p>
          <a:p>
            <a:pPr>
              <a:defRPr sz="2000">
                <a:solidFill>
                  <a:srgbClr val="E6F0FF"/>
                </a:solidFill>
                <a:latin typeface="Arial"/>
              </a:defRPr>
            </a:pPr>
            <a:r>
              <a:t>Date: September 12, 2026</a:t>
            </a:r>
            <a:br/>
          </a:p>
          <a:p>
            <a:pPr>
              <a:defRPr sz="2000">
                <a:solidFill>
                  <a:srgbClr val="E6F0FF"/>
                </a:solidFill>
                <a:latin typeface="Arial"/>
              </a:defRPr>
            </a:pPr>
            <a:r>
              <a:t>Presented by:</a:t>
            </a:r>
          </a:p>
          <a:p>
            <a:pPr>
              <a:defRPr sz="2000">
                <a:solidFill>
                  <a:srgbClr val="E6F0FF"/>
                </a:solidFill>
                <a:latin typeface="Arial"/>
              </a:defRPr>
            </a:pPr>
            <a:r>
              <a:t>ABAO JOHN LOUIE B.</a:t>
            </a:r>
          </a:p>
          <a:p>
            <a:pPr>
              <a:defRPr sz="2000">
                <a:solidFill>
                  <a:srgbClr val="E6F0FF"/>
                </a:solidFill>
                <a:latin typeface="Arial"/>
              </a:defRPr>
            </a:pPr>
            <a:r>
              <a:t>AURE LORNA JAY</a:t>
            </a:r>
          </a:p>
          <a:p>
            <a:pPr>
              <a:defRPr sz="2000">
                <a:solidFill>
                  <a:srgbClr val="E6F0FF"/>
                </a:solidFill>
                <a:latin typeface="Arial"/>
              </a:defRPr>
            </a:pPr>
            <a:r>
              <a:t>KURT CHUA</a:t>
            </a:r>
          </a:p>
          <a:p>
            <a:pPr>
              <a:defRPr sz="2000">
                <a:solidFill>
                  <a:srgbClr val="E6F0FF"/>
                </a:solidFill>
                <a:latin typeface="Arial"/>
              </a:defRPr>
            </a:pPr>
            <a:r>
              <a:t>NIKKOS CHARLES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What We Will Learn</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Define serverless computing.</a:t>
            </a:r>
          </a:p>
          <a:p>
            <a:pPr>
              <a:defRPr sz="2000">
                <a:solidFill>
                  <a:srgbClr val="E6F0FF"/>
                </a:solidFill>
                <a:latin typeface="Arial"/>
              </a:defRPr>
            </a:pPr>
            <a:r>
              <a:t>2. Explain how serverless works.</a:t>
            </a:r>
          </a:p>
          <a:p>
            <a:pPr>
              <a:defRPr sz="2000">
                <a:solidFill>
                  <a:srgbClr val="E6F0FF"/>
                </a:solidFill>
                <a:latin typeface="Arial"/>
              </a:defRPr>
            </a:pPr>
            <a:r>
              <a:t>3. Identify FaaS and BaaS.</a:t>
            </a:r>
          </a:p>
          <a:p>
            <a:pPr>
              <a:defRPr sz="2000">
                <a:solidFill>
                  <a:srgbClr val="E6F0FF"/>
                </a:solidFill>
                <a:latin typeface="Arial"/>
              </a:defRPr>
            </a:pPr>
            <a:r>
              <a:t>4. Discuss advantages and disadvantages.</a:t>
            </a:r>
          </a:p>
          <a:p>
            <a:pPr>
              <a:defRPr sz="2000">
                <a:solidFill>
                  <a:srgbClr val="E6F0FF"/>
                </a:solidFill>
                <a:latin typeface="Arial"/>
              </a:defRPr>
            </a:pPr>
            <a:r>
              <a:t>5. Compare cloud computing and serverless computing.</a:t>
            </a:r>
          </a:p>
          <a:p>
            <a:pPr>
              <a:defRPr sz="2000">
                <a:solidFill>
                  <a:srgbClr val="E6F0FF"/>
                </a:solidFill>
                <a:latin typeface="Arial"/>
              </a:defRPr>
            </a:pPr>
            <a:r>
              <a:t>6. Apply serverless concepts to a real website.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What Is Cloud Computing?</a:t>
            </a:r>
          </a:p>
        </p:txBody>
      </p:sp>
      <p:sp>
        <p:nvSpPr>
          <p:cNvPr id="3" name="Content Placeholder 2"/>
          <p:cNvSpPr>
            <a:spLocks noGrp="1"/>
          </p:cNvSpPr>
          <p:nvPr>
            <p:ph idx="1"/>
          </p:nvPr>
        </p:nvSpPr>
        <p:spPr/>
        <p:txBody>
          <a:bodyPr wrap="square"/>
          <a:lstStyle/>
          <a:p>
            <a:pPr>
              <a:defRPr sz="2000">
                <a:solidFill>
                  <a:srgbClr val="E6F0FF"/>
                </a:solidFill>
                <a:latin typeface="Arial"/>
              </a:defRPr>
            </a:pPr>
            <a:r>
              <a:t>Cloud computing is the delivery of computing services over the internet.</a:t>
            </a:r>
            <a:br/>
          </a:p>
          <a:p>
            <a:pPr>
              <a:defRPr sz="2000">
                <a:solidFill>
                  <a:srgbClr val="E6F0FF"/>
                </a:solidFill>
                <a:latin typeface="Arial"/>
              </a:defRPr>
            </a:pPr>
            <a:r>
              <a:t>Examples of services:</a:t>
            </a:r>
          </a:p>
          <a:p>
            <a:pPr>
              <a:defRPr sz="2000">
                <a:solidFill>
                  <a:srgbClr val="E6F0FF"/>
                </a:solidFill>
                <a:latin typeface="Arial"/>
              </a:defRPr>
            </a:pPr>
            <a:r>
              <a:t>Servers</a:t>
            </a:r>
          </a:p>
          <a:p>
            <a:pPr>
              <a:defRPr sz="2000">
                <a:solidFill>
                  <a:srgbClr val="E6F0FF"/>
                </a:solidFill>
                <a:latin typeface="Arial"/>
              </a:defRPr>
            </a:pPr>
            <a:r>
              <a:t>Storage</a:t>
            </a:r>
          </a:p>
          <a:p>
            <a:pPr>
              <a:defRPr sz="2000">
                <a:solidFill>
                  <a:srgbClr val="E6F0FF"/>
                </a:solidFill>
                <a:latin typeface="Arial"/>
              </a:defRPr>
            </a:pPr>
            <a:r>
              <a:t>Databases</a:t>
            </a:r>
          </a:p>
          <a:p>
            <a:pPr>
              <a:defRPr sz="2000">
                <a:solidFill>
                  <a:srgbClr val="E6F0FF"/>
                </a:solidFill>
                <a:latin typeface="Arial"/>
              </a:defRPr>
            </a:pPr>
            <a:r>
              <a:t>Networking</a:t>
            </a:r>
          </a:p>
          <a:p>
            <a:pPr>
              <a:defRPr sz="2000">
                <a:solidFill>
                  <a:srgbClr val="E6F0FF"/>
                </a:solidFill>
                <a:latin typeface="Arial"/>
              </a:defRPr>
            </a:pPr>
            <a:r>
              <a:t>Software</a:t>
            </a:r>
            <a:br/>
          </a:p>
          <a:p>
            <a:pPr>
              <a:defRPr sz="2000">
                <a:solidFill>
                  <a:srgbClr val="E6F0FF"/>
                </a:solidFill>
                <a:latin typeface="Arial"/>
              </a:defRPr>
            </a:pPr>
            <a:r>
              <a:t>Instead of buying and maintaining your own computer server, you use computing resources provided by a cloud company like AWS, Azure, or Google Cloud.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What Is Serverless Computing?</a:t>
            </a:r>
          </a:p>
        </p:txBody>
      </p:sp>
      <p:sp>
        <p:nvSpPr>
          <p:cNvPr id="3" name="Content Placeholder 2"/>
          <p:cNvSpPr>
            <a:spLocks noGrp="1"/>
          </p:cNvSpPr>
          <p:nvPr>
            <p:ph idx="1"/>
          </p:nvPr>
        </p:nvSpPr>
        <p:spPr/>
        <p:txBody>
          <a:bodyPr wrap="square"/>
          <a:lstStyle/>
          <a:p>
            <a:pPr>
              <a:defRPr sz="2000">
                <a:solidFill>
                  <a:srgbClr val="E6F0FF"/>
                </a:solidFill>
                <a:latin typeface="Arial"/>
              </a:defRPr>
            </a:pPr>
            <a:r>
              <a:t>Serverless computing is a cloud computing model where developers run code without directly managing the underlying servers.</a:t>
            </a:r>
            <a:br/>
          </a:p>
          <a:p>
            <a:pPr>
              <a:defRPr sz="2000">
                <a:solidFill>
                  <a:srgbClr val="E6F0FF"/>
                </a:solidFill>
                <a:latin typeface="Arial"/>
              </a:defRPr>
            </a:pPr>
            <a:r>
              <a:t>Servers still exist!</a:t>
            </a:r>
          </a:p>
          <a:p>
            <a:pPr>
              <a:defRPr sz="2000">
                <a:solidFill>
                  <a:srgbClr val="E6F0FF"/>
                </a:solidFill>
                <a:latin typeface="Arial"/>
              </a:defRPr>
            </a:pPr>
            <a:r>
              <a:t>The cloud provider manages the infrastructure.</a:t>
            </a:r>
          </a:p>
          <a:p>
            <a:pPr>
              <a:defRPr sz="2000">
                <a:solidFill>
                  <a:srgbClr val="E6F0FF"/>
                </a:solidFill>
                <a:latin typeface="Arial"/>
              </a:defRPr>
            </a:pPr>
            <a:r>
              <a:t>Developers focus entirely on writing and deploying code.</a:t>
            </a:r>
          </a:p>
          <a:p>
            <a:pPr>
              <a:defRPr sz="2000">
                <a:solidFill>
                  <a:srgbClr val="E6F0FF"/>
                </a:solidFill>
                <a:latin typeface="Arial"/>
              </a:defRPr>
            </a:pPr>
            <a:r>
              <a:t>Functions run only when needed.</a:t>
            </a:r>
            <a:br/>
          </a:p>
          <a:p>
            <a:pPr>
              <a:defRPr sz="2000">
                <a:solidFill>
                  <a:srgbClr val="E6F0FF"/>
                </a:solidFill>
                <a:latin typeface="Arial"/>
              </a:defRPr>
            </a:pPr>
            <a:r>
              <a:t>IMPORTANT: Serverless does NOT mean there are no servers.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How Serverless Computing Works</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A user sends a request.</a:t>
            </a:r>
          </a:p>
          <a:p>
            <a:pPr>
              <a:defRPr sz="2000">
                <a:solidFill>
                  <a:srgbClr val="E6F0FF"/>
                </a:solidFill>
                <a:latin typeface="Arial"/>
              </a:defRPr>
            </a:pPr>
            <a:r>
              <a:t>2. The cloud receives the request.</a:t>
            </a:r>
          </a:p>
          <a:p>
            <a:pPr>
              <a:defRPr sz="2000">
                <a:solidFill>
                  <a:srgbClr val="E6F0FF"/>
                </a:solidFill>
                <a:latin typeface="Arial"/>
              </a:defRPr>
            </a:pPr>
            <a:r>
              <a:t>3. A serverless function runs.</a:t>
            </a:r>
          </a:p>
          <a:p>
            <a:pPr>
              <a:defRPr sz="2000">
                <a:solidFill>
                  <a:srgbClr val="E6F0FF"/>
                </a:solidFill>
                <a:latin typeface="Arial"/>
              </a:defRPr>
            </a:pPr>
            <a:r>
              <a:t>4. The function processes the request.</a:t>
            </a:r>
          </a:p>
          <a:p>
            <a:pPr>
              <a:defRPr sz="2000">
                <a:solidFill>
                  <a:srgbClr val="E6F0FF"/>
                </a:solidFill>
                <a:latin typeface="Arial"/>
              </a:defRPr>
            </a:pPr>
            <a:r>
              <a:t>5. The result is returned.</a:t>
            </a:r>
          </a:p>
          <a:p>
            <a:pPr>
              <a:defRPr sz="2000">
                <a:solidFill>
                  <a:srgbClr val="E6F0FF"/>
                </a:solidFill>
                <a:latin typeface="Arial"/>
              </a:defRPr>
            </a:pPr>
            <a:r>
              <a:t>6. The function execution ends.</a:t>
            </a:r>
            <a:br/>
          </a:p>
          <a:p>
            <a:pPr>
              <a:defRPr sz="2000">
                <a:solidFill>
                  <a:srgbClr val="E6F0FF"/>
                </a:solidFill>
                <a:latin typeface="Arial"/>
              </a:defRPr>
            </a:pPr>
            <a:r>
              <a:t>Workflow:</a:t>
            </a:r>
          </a:p>
          <a:p>
            <a:pPr>
              <a:defRPr sz="2000">
                <a:solidFill>
                  <a:srgbClr val="E6F0FF"/>
                </a:solidFill>
                <a:latin typeface="Arial"/>
              </a:defRPr>
            </a:pPr>
            <a:r>
              <a:t>User Request → Cloud Platform → Serverless Function → Process Data → Return Response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Example: Get Latest News</a:t>
            </a:r>
          </a:p>
        </p:txBody>
      </p:sp>
      <p:sp>
        <p:nvSpPr>
          <p:cNvPr id="3" name="Content Placeholder 2"/>
          <p:cNvSpPr>
            <a:spLocks noGrp="1"/>
          </p:cNvSpPr>
          <p:nvPr>
            <p:ph idx="1"/>
          </p:nvPr>
        </p:nvSpPr>
        <p:spPr/>
        <p:txBody>
          <a:bodyPr wrap="square"/>
          <a:lstStyle/>
          <a:p>
            <a:pPr>
              <a:defRPr sz="2000">
                <a:solidFill>
                  <a:srgbClr val="E6F0FF"/>
                </a:solidFill>
                <a:latin typeface="Arial"/>
              </a:defRPr>
            </a:pPr>
            <a:r>
              <a:t>Scenario: A user clicks 'Get Latest News'.</a:t>
            </a:r>
            <a:br/>
          </a:p>
          <a:p>
            <a:pPr>
              <a:defRPr sz="2000">
                <a:solidFill>
                  <a:srgbClr val="E6F0FF"/>
                </a:solidFill>
                <a:latin typeface="Arial"/>
              </a:defRPr>
            </a:pPr>
            <a:r>
              <a:t>1. User clicks the button.</a:t>
            </a:r>
          </a:p>
          <a:p>
            <a:pPr>
              <a:defRPr sz="2000">
                <a:solidFill>
                  <a:srgbClr val="E6F0FF"/>
                </a:solidFill>
                <a:latin typeface="Arial"/>
              </a:defRPr>
            </a:pPr>
            <a:r>
              <a:t>2. The request goes to the cloud.</a:t>
            </a:r>
          </a:p>
          <a:p>
            <a:pPr>
              <a:defRPr sz="2000">
                <a:solidFill>
                  <a:srgbClr val="E6F0FF"/>
                </a:solidFill>
                <a:latin typeface="Arial"/>
              </a:defRPr>
            </a:pPr>
            <a:r>
              <a:t>3. The serverless function runs.</a:t>
            </a:r>
          </a:p>
          <a:p>
            <a:pPr>
              <a:defRPr sz="2000">
                <a:solidFill>
                  <a:srgbClr val="E6F0FF"/>
                </a:solidFill>
                <a:latin typeface="Arial"/>
              </a:defRPr>
            </a:pPr>
            <a:r>
              <a:t>4. The function retrieves news from the database.</a:t>
            </a:r>
          </a:p>
          <a:p>
            <a:pPr>
              <a:defRPr sz="2000">
                <a:solidFill>
                  <a:srgbClr val="E6F0FF"/>
                </a:solidFill>
                <a:latin typeface="Arial"/>
              </a:defRPr>
            </a:pPr>
            <a:r>
              <a:t>5. The website displays the news.</a:t>
            </a:r>
            <a:br/>
          </a:p>
          <a:p>
            <a:pPr>
              <a:defRPr sz="2000">
                <a:solidFill>
                  <a:srgbClr val="E6F0FF"/>
                </a:solidFill>
                <a:latin typeface="Arial"/>
              </a:defRPr>
            </a:pPr>
            <a:r>
              <a:t>Flow: Website → Serverless Function → Database → Website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Two Main Types of Serverless Computing</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Function as a Service (FaaS)</a:t>
            </a:r>
          </a:p>
          <a:p>
            <a:pPr>
              <a:defRPr sz="2000">
                <a:solidFill>
                  <a:srgbClr val="E6F0FF"/>
                </a:solidFill>
                <a:latin typeface="Arial"/>
              </a:defRPr>
            </a:pPr>
            <a:r>
              <a:t>Run your own code when needed.</a:t>
            </a:r>
            <a:br/>
          </a:p>
          <a:p>
            <a:pPr>
              <a:defRPr sz="2000">
                <a:solidFill>
                  <a:srgbClr val="E6F0FF"/>
                </a:solidFill>
                <a:latin typeface="Arial"/>
              </a:defRPr>
            </a:pPr>
            <a:r>
              <a:t>2. Backend as a Service (BaaS)</a:t>
            </a:r>
          </a:p>
          <a:p>
            <a:pPr>
              <a:defRPr sz="2000">
                <a:solidFill>
                  <a:srgbClr val="E6F0FF"/>
                </a:solidFill>
                <a:latin typeface="Arial"/>
              </a:defRPr>
            </a:pPr>
            <a:r>
              <a:t>Use ready-made backend services provided by a cloud platform.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Function as a Service (FaaS)</a:t>
            </a:r>
          </a:p>
        </p:txBody>
      </p:sp>
      <p:sp>
        <p:nvSpPr>
          <p:cNvPr id="3" name="Content Placeholder 2"/>
          <p:cNvSpPr>
            <a:spLocks noGrp="1"/>
          </p:cNvSpPr>
          <p:nvPr>
            <p:ph idx="1"/>
          </p:nvPr>
        </p:nvSpPr>
        <p:spPr/>
        <p:txBody>
          <a:bodyPr wrap="square"/>
          <a:lstStyle/>
          <a:p>
            <a:pPr>
              <a:defRPr sz="2000">
                <a:solidFill>
                  <a:srgbClr val="E6F0FF"/>
                </a:solidFill>
                <a:latin typeface="Arial"/>
              </a:defRPr>
            </a:pPr>
            <a:r>
              <a:t>FaaS allows developers to run small pieces of code in response to events or requests.</a:t>
            </a:r>
            <a:br/>
          </a:p>
          <a:p>
            <a:pPr>
              <a:defRPr sz="2000">
                <a:solidFill>
                  <a:srgbClr val="E6F0FF"/>
                </a:solidFill>
                <a:latin typeface="Arial"/>
              </a:defRPr>
            </a:pPr>
            <a:r>
              <a:t>You write a function.</a:t>
            </a:r>
          </a:p>
          <a:p>
            <a:pPr>
              <a:defRPr sz="2000">
                <a:solidFill>
                  <a:srgbClr val="E6F0FF"/>
                </a:solidFill>
                <a:latin typeface="Arial"/>
              </a:defRPr>
            </a:pPr>
            <a:r>
              <a:t>The cloud runs it when needed.</a:t>
            </a:r>
          </a:p>
          <a:p>
            <a:pPr>
              <a:defRPr sz="2000">
                <a:solidFill>
                  <a:srgbClr val="E6F0FF"/>
                </a:solidFill>
                <a:latin typeface="Arial"/>
              </a:defRPr>
            </a:pPr>
            <a:r>
              <a:t>You do not manage the underlying server.</a:t>
            </a:r>
          </a:p>
          <a:p>
            <a:pPr>
              <a:defRPr sz="2000">
                <a:solidFill>
                  <a:srgbClr val="E6F0FF"/>
                </a:solidFill>
                <a:latin typeface="Arial"/>
              </a:defRPr>
            </a:pPr>
            <a:r>
              <a:t>The function performs a specific task.</a:t>
            </a:r>
            <a:br/>
          </a:p>
          <a:p>
            <a:pPr>
              <a:defRPr sz="2000">
                <a:solidFill>
                  <a:srgbClr val="E6F0FF"/>
                </a:solidFill>
                <a:latin typeface="Arial"/>
              </a:defRPr>
            </a:pPr>
            <a:r>
              <a:t>Example: AWS Lambda</a:t>
            </a:r>
            <a:br/>
          </a:p>
          <a:p>
            <a:pPr>
              <a:defRPr sz="2000">
                <a:solidFill>
                  <a:srgbClr val="E6F0FF"/>
                </a:solidFill>
                <a:latin typeface="Arial"/>
              </a:defRPr>
            </a:pPr>
            <a:r>
              <a:t>function calculateTotal(price, quantity) {</a:t>
            </a:r>
          </a:p>
          <a:p>
            <a:pPr>
              <a:defRPr sz="2000">
                <a:solidFill>
                  <a:srgbClr val="E6F0FF"/>
                </a:solidFill>
                <a:latin typeface="Arial"/>
              </a:defRPr>
            </a:pPr>
            <a:r>
              <a:t>    return price quantity;</a:t>
            </a:r>
          </a:p>
          <a:p>
            <a:pPr>
              <a:defRPr sz="2000">
                <a:solidFill>
                  <a:srgbClr val="E6F0FF"/>
                </a:solidFill>
                <a:latin typeface="Arial"/>
              </a:defRPr>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Backend as a Service (BaaS)</a:t>
            </a:r>
          </a:p>
        </p:txBody>
      </p:sp>
      <p:sp>
        <p:nvSpPr>
          <p:cNvPr id="3" name="Content Placeholder 2"/>
          <p:cNvSpPr>
            <a:spLocks noGrp="1"/>
          </p:cNvSpPr>
          <p:nvPr>
            <p:ph idx="1"/>
          </p:nvPr>
        </p:nvSpPr>
        <p:spPr/>
        <p:txBody>
          <a:bodyPr wrap="square"/>
          <a:lstStyle/>
          <a:p>
            <a:pPr>
              <a:defRPr sz="2000">
                <a:solidFill>
                  <a:srgbClr val="E6F0FF"/>
                </a:solidFill>
                <a:latin typeface="Arial"/>
              </a:defRPr>
            </a:pPr>
            <a:r>
              <a:t>BaaS provides ready-made backend services so developers do not need to build everything from scratch.</a:t>
            </a:r>
            <a:br/>
          </a:p>
          <a:p>
            <a:pPr>
              <a:defRPr sz="2000">
                <a:solidFill>
                  <a:srgbClr val="E6F0FF"/>
                </a:solidFill>
                <a:latin typeface="Arial"/>
              </a:defRPr>
            </a:pPr>
            <a:r>
              <a:t>Services may include:</a:t>
            </a:r>
          </a:p>
          <a:p>
            <a:pPr>
              <a:defRPr sz="2000">
                <a:solidFill>
                  <a:srgbClr val="E6F0FF"/>
                </a:solidFill>
                <a:latin typeface="Arial"/>
              </a:defRPr>
            </a:pPr>
            <a:r>
              <a:t>Databases</a:t>
            </a:r>
          </a:p>
          <a:p>
            <a:pPr>
              <a:defRPr sz="2000">
                <a:solidFill>
                  <a:srgbClr val="E6F0FF"/>
                </a:solidFill>
                <a:latin typeface="Arial"/>
              </a:defRPr>
            </a:pPr>
            <a:r>
              <a:t>User authentication</a:t>
            </a:r>
          </a:p>
          <a:p>
            <a:pPr>
              <a:defRPr sz="2000">
                <a:solidFill>
                  <a:srgbClr val="E6F0FF"/>
                </a:solidFill>
                <a:latin typeface="Arial"/>
              </a:defRPr>
            </a:pPr>
            <a:r>
              <a:t>File storage</a:t>
            </a:r>
          </a:p>
          <a:p>
            <a:pPr>
              <a:defRPr sz="2000">
                <a:solidFill>
                  <a:srgbClr val="E6F0FF"/>
                </a:solidFill>
                <a:latin typeface="Arial"/>
              </a:defRPr>
            </a:pPr>
            <a:r>
              <a:t>APIs</a:t>
            </a:r>
          </a:p>
          <a:p>
            <a:pPr>
              <a:defRPr sz="2000">
                <a:solidFill>
                  <a:srgbClr val="E6F0FF"/>
                </a:solidFill>
                <a:latin typeface="Arial"/>
              </a:defRPr>
            </a:pPr>
            <a:r>
              <a:t>Notifications</a:t>
            </a:r>
            <a:br/>
          </a:p>
          <a:p>
            <a:pPr>
              <a:defRPr sz="2000">
                <a:solidFill>
                  <a:srgbClr val="E6F0FF"/>
                </a:solidFill>
                <a:latin typeface="Arial"/>
              </a:defRPr>
            </a:pPr>
            <a:r>
              <a:t>Example: Supabase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FaaS vs BaaS</a:t>
            </a:r>
          </a:p>
        </p:txBody>
      </p:sp>
      <p:sp>
        <p:nvSpPr>
          <p:cNvPr id="3" name="Content Placeholder 2"/>
          <p:cNvSpPr>
            <a:spLocks noGrp="1"/>
          </p:cNvSpPr>
          <p:nvPr>
            <p:ph idx="1" sz="half"/>
          </p:nvPr>
        </p:nvSpPr>
        <p:spPr/>
        <p:txBody>
          <a:bodyPr wrap="square"/>
          <a:lstStyle/>
          <a:p>
            <a:pPr>
              <a:defRPr sz="2000">
                <a:solidFill>
                  <a:srgbClr val="E6F0FF"/>
                </a:solidFill>
                <a:latin typeface="Arial"/>
              </a:defRPr>
            </a:pPr>
            <a:r>
              <a:t>Function as a Service (FaaS):</a:t>
            </a:r>
          </a:p>
          <a:p>
            <a:pPr>
              <a:defRPr sz="2000">
                <a:solidFill>
                  <a:srgbClr val="E6F0FF"/>
                </a:solidFill>
                <a:latin typeface="Arial"/>
              </a:defRPr>
            </a:pPr>
            <a:r>
              <a:t>Runs your code.</a:t>
            </a:r>
          </a:p>
          <a:p>
            <a:pPr>
              <a:defRPr sz="2000">
                <a:solidFill>
                  <a:srgbClr val="E6F0FF"/>
                </a:solidFill>
                <a:latin typeface="Arial"/>
              </a:defRPr>
            </a:pPr>
            <a:r>
              <a:t>You write functions.</a:t>
            </a:r>
          </a:p>
          <a:p>
            <a:pPr>
              <a:defRPr sz="2000">
                <a:solidFill>
                  <a:srgbClr val="E6F0FF"/>
                </a:solidFill>
                <a:latin typeface="Arial"/>
              </a:defRPr>
            </a:pPr>
            <a:r>
              <a:t>Focuses on code execution.</a:t>
            </a:r>
          </a:p>
          <a:p>
            <a:pPr>
              <a:defRPr sz="2000">
                <a:solidFill>
                  <a:srgbClr val="E6F0FF"/>
                </a:solidFill>
                <a:latin typeface="Arial"/>
              </a:defRPr>
            </a:pPr>
            <a:r>
              <a:t>Example: AWS Lambda.</a:t>
            </a:r>
            <a:br/>
          </a:p>
          <a:p>
            <a:pPr>
              <a:defRPr sz="2000">
                <a:solidFill>
                  <a:srgbClr val="E6F0FF"/>
                </a:solidFill>
                <a:latin typeface="Arial"/>
              </a:defRPr>
            </a:pPr>
            <a:r>
              <a:t>Memory Tip: 'Run my code.'</a:t>
            </a:r>
          </a:p>
        </p:txBody>
      </p:sp>
      <p:sp>
        <p:nvSpPr>
          <p:cNvPr id="4" name="Content Placeholder 3"/>
          <p:cNvSpPr>
            <a:spLocks noGrp="1"/>
          </p:cNvSpPr>
          <p:nvPr>
            <p:ph idx="2" sz="half"/>
          </p:nvPr>
        </p:nvSpPr>
        <p:spPr/>
        <p:txBody>
          <a:bodyPr wrap="square"/>
          <a:lstStyle/>
          <a:p>
            <a:pPr>
              <a:defRPr sz="2000">
                <a:solidFill>
                  <a:srgbClr val="E6F0FF"/>
                </a:solidFill>
                <a:latin typeface="Arial"/>
              </a:defRPr>
            </a:pPr>
            <a:r>
              <a:t>Backend as a Service (BaaS):</a:t>
            </a:r>
          </a:p>
          <a:p>
            <a:pPr>
              <a:defRPr sz="2000">
                <a:solidFill>
                  <a:srgbClr val="E6F0FF"/>
                </a:solidFill>
                <a:latin typeface="Arial"/>
              </a:defRPr>
            </a:pPr>
            <a:r>
              <a:t>Provides backend services.</a:t>
            </a:r>
          </a:p>
          <a:p>
            <a:pPr>
              <a:defRPr sz="2000">
                <a:solidFill>
                  <a:srgbClr val="E6F0FF"/>
                </a:solidFill>
                <a:latin typeface="Arial"/>
              </a:defRPr>
            </a:pPr>
            <a:r>
              <a:t>You use ready-made features.</a:t>
            </a:r>
          </a:p>
          <a:p>
            <a:pPr>
              <a:defRPr sz="2000">
                <a:solidFill>
                  <a:srgbClr val="E6F0FF"/>
                </a:solidFill>
                <a:latin typeface="Arial"/>
              </a:defRPr>
            </a:pPr>
            <a:r>
              <a:t>Focuses on backend functionality.</a:t>
            </a:r>
          </a:p>
          <a:p>
            <a:pPr>
              <a:defRPr sz="2000">
                <a:solidFill>
                  <a:srgbClr val="E6F0FF"/>
                </a:solidFill>
                <a:latin typeface="Arial"/>
              </a:defRPr>
            </a:pPr>
            <a:r>
              <a:t>Example: Supabase.</a:t>
            </a:r>
            <a:br/>
          </a:p>
          <a:p>
            <a:pPr>
              <a:defRPr sz="2000">
                <a:solidFill>
                  <a:srgbClr val="E6F0FF"/>
                </a:solidFill>
                <a:latin typeface="Arial"/>
              </a:defRPr>
            </a:pPr>
            <a:r>
              <a:t>Memory Tip: 'Give me backend services.'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Advantages of Serverless Computing</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No direct server management (Focus on coding).</a:t>
            </a:r>
          </a:p>
          <a:p>
            <a:pPr>
              <a:defRPr sz="2000">
                <a:solidFill>
                  <a:srgbClr val="E6F0FF"/>
                </a:solidFill>
                <a:latin typeface="Arial"/>
              </a:defRPr>
            </a:pPr>
            <a:r>
              <a:t>2. Automatic scaling (Platform runs more instances when traffic increases).</a:t>
            </a:r>
          </a:p>
          <a:p>
            <a:pPr>
              <a:defRPr sz="2000">
                <a:solidFill>
                  <a:srgbClr val="E6F0FF"/>
                </a:solidFill>
                <a:latin typeface="Arial"/>
              </a:defRPr>
            </a:pPr>
            <a:r>
              <a:t>3. Usage-based pricing (Only pay when code runs).</a:t>
            </a:r>
          </a:p>
          <a:p>
            <a:pPr>
              <a:defRPr sz="2000">
                <a:solidFill>
                  <a:srgbClr val="E6F0FF"/>
                </a:solidFill>
                <a:latin typeface="Arial"/>
              </a:defRPr>
            </a:pPr>
            <a:r>
              <a:t>4. Faster development.</a:t>
            </a:r>
          </a:p>
          <a:p>
            <a:pPr>
              <a:defRPr sz="2000">
                <a:solidFill>
                  <a:srgbClr val="E6F0FF"/>
                </a:solidFill>
                <a:latin typeface="Arial"/>
              </a:defRPr>
            </a:pPr>
            <a:r>
              <a:t>5. Focus on application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Disadvantages of Serverless Computing</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Cold starts (A delay when a function environment needs to prepare).</a:t>
            </a:r>
          </a:p>
          <a:p>
            <a:pPr>
              <a:defRPr sz="2000">
                <a:solidFill>
                  <a:srgbClr val="E6F0FF"/>
                </a:solidFill>
                <a:latin typeface="Arial"/>
              </a:defRPr>
            </a:pPr>
            <a:r>
              <a:t>2. Execution time limits.</a:t>
            </a:r>
          </a:p>
          <a:p>
            <a:pPr>
              <a:defRPr sz="2000">
                <a:solidFill>
                  <a:srgbClr val="E6F0FF"/>
                </a:solidFill>
                <a:latin typeface="Arial"/>
              </a:defRPr>
            </a:pPr>
            <a:r>
              <a:t>3. Internet and cloud service dependency.</a:t>
            </a:r>
          </a:p>
          <a:p>
            <a:pPr>
              <a:defRPr sz="2000">
                <a:solidFill>
                  <a:srgbClr val="E6F0FF"/>
                </a:solidFill>
                <a:latin typeface="Arial"/>
              </a:defRPr>
            </a:pPr>
            <a:r>
              <a:t>4. Vendor lock-in.</a:t>
            </a:r>
          </a:p>
          <a:p>
            <a:pPr>
              <a:defRPr sz="2000">
                <a:solidFill>
                  <a:srgbClr val="E6F0FF"/>
                </a:solidFill>
                <a:latin typeface="Arial"/>
              </a:defRPr>
            </a:pPr>
            <a:r>
              <a:t>5. Costs can increase with high usage.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Traditional Server vs Serverless</a:t>
            </a:r>
          </a:p>
        </p:txBody>
      </p:sp>
      <p:sp>
        <p:nvSpPr>
          <p:cNvPr id="3" name="Content Placeholder 2"/>
          <p:cNvSpPr>
            <a:spLocks noGrp="1"/>
          </p:cNvSpPr>
          <p:nvPr>
            <p:ph idx="1" sz="half"/>
          </p:nvPr>
        </p:nvSpPr>
        <p:spPr/>
        <p:txBody>
          <a:bodyPr wrap="square"/>
          <a:lstStyle/>
          <a:p>
            <a:pPr>
              <a:defRPr sz="2000">
                <a:solidFill>
                  <a:srgbClr val="E6F0FF"/>
                </a:solidFill>
                <a:latin typeface="Arial"/>
              </a:defRPr>
            </a:pPr>
            <a:r>
              <a:t>Traditional Server:</a:t>
            </a:r>
          </a:p>
          <a:p>
            <a:pPr>
              <a:defRPr sz="2000">
                <a:solidFill>
                  <a:srgbClr val="E6F0FF"/>
                </a:solidFill>
                <a:latin typeface="Arial"/>
              </a:defRPr>
            </a:pPr>
            <a:r>
              <a:t>You manage the server.</a:t>
            </a:r>
          </a:p>
          <a:p>
            <a:pPr>
              <a:defRPr sz="2000">
                <a:solidFill>
                  <a:srgbClr val="E6F0FF"/>
                </a:solidFill>
                <a:latin typeface="Arial"/>
              </a:defRPr>
            </a:pPr>
            <a:r>
              <a:t>Server often runs continuously.</a:t>
            </a:r>
          </a:p>
          <a:p>
            <a:pPr>
              <a:defRPr sz="2000">
                <a:solidFill>
                  <a:srgbClr val="E6F0FF"/>
                </a:solidFill>
                <a:latin typeface="Arial"/>
              </a:defRPr>
            </a:pPr>
            <a:r>
              <a:t>You manage resources and configuration.</a:t>
            </a:r>
          </a:p>
          <a:p>
            <a:pPr>
              <a:defRPr sz="2000">
                <a:solidFill>
                  <a:srgbClr val="E6F0FF"/>
                </a:solidFill>
                <a:latin typeface="Arial"/>
              </a:defRPr>
            </a:pPr>
            <a:r>
              <a:t>Scaling may require manual setup.</a:t>
            </a:r>
          </a:p>
        </p:txBody>
      </p:sp>
      <p:sp>
        <p:nvSpPr>
          <p:cNvPr id="4" name="Content Placeholder 3"/>
          <p:cNvSpPr>
            <a:spLocks noGrp="1"/>
          </p:cNvSpPr>
          <p:nvPr>
            <p:ph idx="2" sz="half"/>
          </p:nvPr>
        </p:nvSpPr>
        <p:spPr/>
        <p:txBody>
          <a:bodyPr wrap="square"/>
          <a:lstStyle/>
          <a:p>
            <a:pPr>
              <a:defRPr sz="2000">
                <a:solidFill>
                  <a:srgbClr val="E6F0FF"/>
                </a:solidFill>
                <a:latin typeface="Arial"/>
              </a:defRPr>
            </a:pPr>
            <a:r>
              <a:t>Serverless:</a:t>
            </a:r>
          </a:p>
          <a:p>
            <a:pPr>
              <a:defRPr sz="2000">
                <a:solidFill>
                  <a:srgbClr val="E6F0FF"/>
                </a:solidFill>
                <a:latin typeface="Arial"/>
              </a:defRPr>
            </a:pPr>
            <a:r>
              <a:t>Provider manages the infrastructure.</a:t>
            </a:r>
          </a:p>
          <a:p>
            <a:pPr>
              <a:defRPr sz="2000">
                <a:solidFill>
                  <a:srgbClr val="E6F0FF"/>
                </a:solidFill>
                <a:latin typeface="Arial"/>
              </a:defRPr>
            </a:pPr>
            <a:r>
              <a:t>Functions run when needed.</a:t>
            </a:r>
          </a:p>
          <a:p>
            <a:pPr>
              <a:defRPr sz="2000">
                <a:solidFill>
                  <a:srgbClr val="E6F0FF"/>
                </a:solidFill>
                <a:latin typeface="Arial"/>
              </a:defRPr>
            </a:pPr>
            <a:r>
              <a:t>Scaling is often automatic.</a:t>
            </a:r>
          </a:p>
          <a:p>
            <a:pPr>
              <a:defRPr sz="2000">
                <a:solidFill>
                  <a:srgbClr val="E6F0FF"/>
                </a:solidFill>
                <a:latin typeface="Arial"/>
              </a:defRPr>
            </a:pPr>
            <a:r>
              <a:t>Developers focus on code.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Cloud Computing vs Serverless Computing</a:t>
            </a:r>
          </a:p>
        </p:txBody>
      </p:sp>
      <p:sp>
        <p:nvSpPr>
          <p:cNvPr id="3" name="Content Placeholder 2"/>
          <p:cNvSpPr>
            <a:spLocks noGrp="1"/>
          </p:cNvSpPr>
          <p:nvPr>
            <p:ph idx="1"/>
          </p:nvPr>
        </p:nvSpPr>
        <p:spPr/>
        <p:txBody>
          <a:bodyPr wrap="square"/>
          <a:lstStyle/>
          <a:p>
            <a:pPr>
              <a:defRPr sz="2000">
                <a:solidFill>
                  <a:srgbClr val="E6F0FF"/>
                </a:solidFill>
                <a:latin typeface="Arial"/>
              </a:defRPr>
            </a:pPr>
            <a:r>
              <a:t>Cloud computing is the broader category.</a:t>
            </a:r>
          </a:p>
          <a:p>
            <a:pPr>
              <a:defRPr sz="2000">
                <a:solidFill>
                  <a:srgbClr val="E6F0FF"/>
                </a:solidFill>
                <a:latin typeface="Arial"/>
              </a:defRPr>
            </a:pPr>
            <a:r>
              <a:t>Serverless computing is one model within cloud computing.</a:t>
            </a:r>
            <a:br/>
          </a:p>
          <a:p>
            <a:pPr>
              <a:defRPr sz="2000">
                <a:solidFill>
                  <a:srgbClr val="E6F0FF"/>
                </a:solidFill>
                <a:latin typeface="Arial"/>
              </a:defRPr>
            </a:pPr>
            <a:r>
              <a:t>Cloud computing: Delivery of computing services over the internet.</a:t>
            </a:r>
          </a:p>
          <a:p>
            <a:pPr>
              <a:defRPr sz="2000">
                <a:solidFill>
                  <a:srgbClr val="E6F0FF"/>
                </a:solidFill>
                <a:latin typeface="Arial"/>
              </a:defRPr>
            </a:pPr>
            <a:r>
              <a:t>Serverless computing: A cloud model where the provider manages the underlying servers for code execution and backend services.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Examples of Serverless Platforms</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AWS Lambda</a:t>
            </a:r>
          </a:p>
          <a:p>
            <a:pPr>
              <a:defRPr sz="2000">
                <a:solidFill>
                  <a:srgbClr val="E6F0FF"/>
                </a:solidFill>
                <a:latin typeface="Arial"/>
              </a:defRPr>
            </a:pPr>
            <a:r>
              <a:t>Runs code in response to events (FaaS).</a:t>
            </a:r>
            <a:br/>
          </a:p>
          <a:p>
            <a:pPr>
              <a:defRPr sz="2000">
                <a:solidFill>
                  <a:srgbClr val="E6F0FF"/>
                </a:solidFill>
                <a:latin typeface="Arial"/>
              </a:defRPr>
            </a:pPr>
            <a:r>
              <a:t>2. Vercel</a:t>
            </a:r>
          </a:p>
          <a:p>
            <a:pPr>
              <a:defRPr sz="2000">
                <a:solidFill>
                  <a:srgbClr val="E6F0FF"/>
                </a:solidFill>
                <a:latin typeface="Arial"/>
              </a:defRPr>
            </a:pPr>
            <a:r>
              <a:t>Can host web applications and run serverless functions.</a:t>
            </a:r>
            <a:br/>
          </a:p>
          <a:p>
            <a:pPr>
              <a:defRPr sz="2000">
                <a:solidFill>
                  <a:srgbClr val="E6F0FF"/>
                </a:solidFill>
                <a:latin typeface="Arial"/>
              </a:defRPr>
            </a:pPr>
            <a:r>
              <a:t>3. Google Cloud Functions</a:t>
            </a:r>
          </a:p>
          <a:p>
            <a:pPr>
              <a:defRPr sz="2000">
                <a:solidFill>
                  <a:srgbClr val="E6F0FF"/>
                </a:solidFill>
                <a:latin typeface="Arial"/>
              </a:defRPr>
            </a:pPr>
            <a:r>
              <a:t>Runs backend code without requiring direct server management.</a:t>
            </a:r>
            <a:br/>
          </a:p>
          <a:p>
            <a:pPr>
              <a:defRPr sz="2000">
                <a:solidFill>
                  <a:srgbClr val="E6F0FF"/>
                </a:solidFill>
                <a:latin typeface="Arial"/>
              </a:defRPr>
            </a:pPr>
            <a:r>
              <a:t>4. Supabase</a:t>
            </a:r>
          </a:p>
          <a:p>
            <a:pPr>
              <a:defRPr sz="2000">
                <a:solidFill>
                  <a:srgbClr val="E6F0FF"/>
                </a:solidFill>
                <a:latin typeface="Arial"/>
              </a:defRPr>
            </a:pPr>
            <a:r>
              <a:t>Provides backend services such as databases and authentication (BaaS).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Serverless Computing in SDN PRIME</a:t>
            </a:r>
          </a:p>
        </p:txBody>
      </p:sp>
      <p:sp>
        <p:nvSpPr>
          <p:cNvPr id="3" name="Content Placeholder 2"/>
          <p:cNvSpPr>
            <a:spLocks noGrp="1"/>
          </p:cNvSpPr>
          <p:nvPr>
            <p:ph idx="1"/>
          </p:nvPr>
        </p:nvSpPr>
        <p:spPr/>
        <p:txBody>
          <a:bodyPr wrap="square"/>
          <a:lstStyle/>
          <a:p>
            <a:pPr>
              <a:defRPr sz="2000">
                <a:solidFill>
                  <a:srgbClr val="E6F0FF"/>
                </a:solidFill>
                <a:latin typeface="Arial"/>
              </a:defRPr>
            </a:pPr>
            <a:r>
              <a:t>Scenario: An admin adds a new news article.</a:t>
            </a:r>
            <a:br/>
          </a:p>
          <a:p>
            <a:pPr>
              <a:defRPr sz="2000">
                <a:solidFill>
                  <a:srgbClr val="E6F0FF"/>
                </a:solidFill>
                <a:latin typeface="Arial"/>
              </a:defRPr>
            </a:pPr>
            <a:r>
              <a:t>Process:</a:t>
            </a:r>
          </a:p>
          <a:p>
            <a:pPr>
              <a:defRPr sz="2000">
                <a:solidFill>
                  <a:srgbClr val="E6F0FF"/>
                </a:solidFill>
                <a:latin typeface="Arial"/>
              </a:defRPr>
            </a:pPr>
            <a:r>
              <a:t>1. Admin submits a news article.</a:t>
            </a:r>
          </a:p>
          <a:p>
            <a:pPr>
              <a:defRPr sz="2000">
                <a:solidFill>
                  <a:srgbClr val="E6F0FF"/>
                </a:solidFill>
                <a:latin typeface="Arial"/>
              </a:defRPr>
            </a:pPr>
            <a:r>
              <a:t>2. The request goes to the backend.</a:t>
            </a:r>
          </a:p>
          <a:p>
            <a:pPr>
              <a:defRPr sz="2000">
                <a:solidFill>
                  <a:srgbClr val="E6F0FF"/>
                </a:solidFill>
                <a:latin typeface="Arial"/>
              </a:defRPr>
            </a:pPr>
            <a:r>
              <a:t>3. A serverless function validates and saves the data.</a:t>
            </a:r>
          </a:p>
          <a:p>
            <a:pPr>
              <a:defRPr sz="2000">
                <a:solidFill>
                  <a:srgbClr val="E6F0FF"/>
                </a:solidFill>
                <a:latin typeface="Arial"/>
              </a:defRPr>
            </a:pPr>
            <a:r>
              <a:t>4. The database stores the article.</a:t>
            </a:r>
          </a:p>
          <a:p>
            <a:pPr>
              <a:defRPr sz="2000">
                <a:solidFill>
                  <a:srgbClr val="E6F0FF"/>
                </a:solidFill>
                <a:latin typeface="Arial"/>
              </a:defRPr>
            </a:pPr>
            <a:r>
              <a:t>5. The website displays the updated news.</a:t>
            </a:r>
            <a:br/>
          </a:p>
          <a:p>
            <a:pPr>
              <a:defRPr sz="2000">
                <a:solidFill>
                  <a:srgbClr val="E6F0FF"/>
                </a:solidFill>
                <a:latin typeface="Arial"/>
              </a:defRPr>
            </a:pPr>
            <a:r>
              <a:t>Architecture:</a:t>
            </a:r>
          </a:p>
          <a:p>
            <a:pPr>
              <a:defRPr sz="2000">
                <a:solidFill>
                  <a:srgbClr val="E6F0FF"/>
                </a:solidFill>
                <a:latin typeface="Arial"/>
              </a:defRPr>
            </a:pPr>
            <a:r>
              <a:t>Admin → Serverless Backend Function → Supabase Database → Public Website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When Is Serverless a Good Choice?</a:t>
            </a:r>
          </a:p>
        </p:txBody>
      </p:sp>
      <p:sp>
        <p:nvSpPr>
          <p:cNvPr id="3" name="Content Placeholder 2"/>
          <p:cNvSpPr>
            <a:spLocks noGrp="1"/>
          </p:cNvSpPr>
          <p:nvPr>
            <p:ph idx="1" sz="half"/>
          </p:nvPr>
        </p:nvSpPr>
        <p:spPr/>
        <p:txBody>
          <a:bodyPr wrap="square"/>
          <a:lstStyle/>
          <a:p>
            <a:pPr>
              <a:defRPr sz="2000">
                <a:solidFill>
                  <a:srgbClr val="E6F0FF"/>
                </a:solidFill>
                <a:latin typeface="Arial"/>
              </a:defRPr>
            </a:pPr>
            <a:r>
              <a:t>Serverless is useful for:</a:t>
            </a:r>
          </a:p>
          <a:p>
            <a:pPr>
              <a:defRPr sz="2000">
                <a:solidFill>
                  <a:srgbClr val="E6F0FF"/>
                </a:solidFill>
                <a:latin typeface="Arial"/>
              </a:defRPr>
            </a:pPr>
            <a:r>
              <a:t>APIs.</a:t>
            </a:r>
          </a:p>
          <a:p>
            <a:pPr>
              <a:defRPr sz="2000">
                <a:solidFill>
                  <a:srgbClr val="E6F0FF"/>
                </a:solidFill>
                <a:latin typeface="Arial"/>
              </a:defRPr>
            </a:pPr>
            <a:r>
              <a:t>Website backend functions.</a:t>
            </a:r>
          </a:p>
          <a:p>
            <a:pPr>
              <a:defRPr sz="2000">
                <a:solidFill>
                  <a:srgbClr val="E6F0FF"/>
                </a:solidFill>
                <a:latin typeface="Arial"/>
              </a:defRPr>
            </a:pPr>
            <a:r>
              <a:t>Form submissions.</a:t>
            </a:r>
          </a:p>
          <a:p>
            <a:pPr>
              <a:defRPr sz="2000">
                <a:solidFill>
                  <a:srgbClr val="E6F0FF"/>
                </a:solidFill>
                <a:latin typeface="Arial"/>
              </a:defRPr>
            </a:pPr>
            <a:r>
              <a:t>Database-triggered tasks.</a:t>
            </a:r>
          </a:p>
          <a:p>
            <a:pPr>
              <a:defRPr sz="2000">
                <a:solidFill>
                  <a:srgbClr val="E6F0FF"/>
                </a:solidFill>
                <a:latin typeface="Arial"/>
              </a:defRPr>
            </a:pPr>
            <a:r>
              <a:t>Event-driven applications.</a:t>
            </a:r>
          </a:p>
          <a:p>
            <a:pPr>
              <a:defRPr sz="2000">
                <a:solidFill>
                  <a:srgbClr val="E6F0FF"/>
                </a:solidFill>
                <a:latin typeface="Arial"/>
              </a:defRPr>
            </a:pPr>
            <a:r>
              <a:t>Small or changing workloads.</a:t>
            </a:r>
          </a:p>
        </p:txBody>
      </p:sp>
      <p:sp>
        <p:nvSpPr>
          <p:cNvPr id="4" name="Content Placeholder 3"/>
          <p:cNvSpPr>
            <a:spLocks noGrp="1"/>
          </p:cNvSpPr>
          <p:nvPr>
            <p:ph idx="2" sz="half"/>
          </p:nvPr>
        </p:nvSpPr>
        <p:spPr/>
        <p:txBody>
          <a:bodyPr wrap="square"/>
          <a:lstStyle/>
          <a:p>
            <a:pPr>
              <a:defRPr sz="2000">
                <a:solidFill>
                  <a:srgbClr val="E6F0FF"/>
                </a:solidFill>
                <a:latin typeface="Arial"/>
              </a:defRPr>
            </a:pPr>
            <a:r>
              <a:t>Consider alternatives for:</a:t>
            </a:r>
          </a:p>
          <a:p>
            <a:pPr>
              <a:defRPr sz="2000">
                <a:solidFill>
                  <a:srgbClr val="E6F0FF"/>
                </a:solidFill>
                <a:latin typeface="Arial"/>
              </a:defRPr>
            </a:pPr>
            <a:r>
              <a:t>Long-running workloads.</a:t>
            </a:r>
          </a:p>
          <a:p>
            <a:pPr>
              <a:defRPr sz="2000">
                <a:solidFill>
                  <a:srgbClr val="E6F0FF"/>
                </a:solidFill>
                <a:latin typeface="Arial"/>
              </a:defRPr>
            </a:pPr>
            <a:r>
              <a:t>Highly specialized tasks.</a:t>
            </a:r>
          </a:p>
          <a:p>
            <a:pPr>
              <a:defRPr sz="2000">
                <a:solidFill>
                  <a:srgbClr val="E6F0FF"/>
                </a:solidFill>
                <a:latin typeface="Arial"/>
              </a:defRPr>
            </a:pPr>
            <a:r>
              <a:t>Constant 24/7 heavy workloads (Traditional servers may be better).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What We Learned</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Serverless is a cloud computing model.</a:t>
            </a:r>
          </a:p>
          <a:p>
            <a:pPr>
              <a:defRPr sz="2000">
                <a:solidFill>
                  <a:srgbClr val="E6F0FF"/>
                </a:solidFill>
                <a:latin typeface="Arial"/>
              </a:defRPr>
            </a:pPr>
            <a:r>
              <a:t>2. Servers still exist.</a:t>
            </a:r>
          </a:p>
          <a:p>
            <a:pPr>
              <a:defRPr sz="2000">
                <a:solidFill>
                  <a:srgbClr val="E6F0FF"/>
                </a:solidFill>
                <a:latin typeface="Arial"/>
              </a:defRPr>
            </a:pPr>
            <a:r>
              <a:t>3. The cloud provider manages the infrastructure.</a:t>
            </a:r>
          </a:p>
          <a:p>
            <a:pPr>
              <a:defRPr sz="2000">
                <a:solidFill>
                  <a:srgbClr val="E6F0FF"/>
                </a:solidFill>
                <a:latin typeface="Arial"/>
              </a:defRPr>
            </a:pPr>
            <a:r>
              <a:t>4. FaaS runs code.</a:t>
            </a:r>
          </a:p>
          <a:p>
            <a:pPr>
              <a:defRPr sz="2000">
                <a:solidFill>
                  <a:srgbClr val="E6F0FF"/>
                </a:solidFill>
                <a:latin typeface="Arial"/>
              </a:defRPr>
            </a:pPr>
            <a:r>
              <a:t>5. BaaS provides backend services.</a:t>
            </a:r>
          </a:p>
          <a:p>
            <a:pPr>
              <a:defRPr sz="2000">
                <a:solidFill>
                  <a:srgbClr val="E6F0FF"/>
                </a:solidFill>
                <a:latin typeface="Arial"/>
              </a:defRPr>
            </a:pPr>
            <a:r>
              <a:t>6. Serverless can scale automatically.</a:t>
            </a:r>
          </a:p>
          <a:p>
            <a:pPr>
              <a:defRPr sz="2000">
                <a:solidFill>
                  <a:srgbClr val="E6F0FF"/>
                </a:solidFill>
                <a:latin typeface="Arial"/>
              </a:defRPr>
            </a:pPr>
            <a:r>
              <a:t>7. Serverless has limitations such as cold starts and execution limits.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FFFFFF"/>
                </a:solidFill>
                <a:latin typeface="Arial"/>
              </a:defRPr>
            </a:pPr>
            <a:r>
              <a:t>Final Knowledge Check</a:t>
            </a:r>
          </a:p>
        </p:txBody>
      </p:sp>
      <p:sp>
        <p:nvSpPr>
          <p:cNvPr id="3" name="Content Placeholder 2"/>
          <p:cNvSpPr>
            <a:spLocks noGrp="1"/>
          </p:cNvSpPr>
          <p:nvPr>
            <p:ph idx="1"/>
          </p:nvPr>
        </p:nvSpPr>
        <p:spPr/>
        <p:txBody>
          <a:bodyPr wrap="square"/>
          <a:lstStyle/>
          <a:p>
            <a:pPr>
              <a:defRPr sz="2000">
                <a:solidFill>
                  <a:srgbClr val="E6F0FF"/>
                </a:solidFill>
                <a:latin typeface="Arial"/>
              </a:defRPr>
            </a:pPr>
            <a:r>
              <a:t>1. What is serverless computing?</a:t>
            </a:r>
          </a:p>
          <a:p>
            <a:pPr>
              <a:defRPr sz="2000">
                <a:solidFill>
                  <a:srgbClr val="E6F0FF"/>
                </a:solidFill>
                <a:latin typeface="Arial"/>
              </a:defRPr>
            </a:pPr>
            <a:r>
              <a:t>2. What does FaaS stand for?</a:t>
            </a:r>
          </a:p>
          <a:p>
            <a:pPr>
              <a:defRPr sz="2000">
                <a:solidFill>
                  <a:srgbClr val="E6F0FF"/>
                </a:solidFill>
                <a:latin typeface="Arial"/>
              </a:defRPr>
            </a:pPr>
            <a:r>
              <a:t>3. What does BaaS stand for?</a:t>
            </a:r>
          </a:p>
          <a:p>
            <a:pPr>
              <a:defRPr sz="2000">
                <a:solidFill>
                  <a:srgbClr val="E6F0FF"/>
                </a:solidFill>
                <a:latin typeface="Arial"/>
              </a:defRPr>
            </a:pPr>
            <a:r>
              <a:t>4. Why is automatic scaling an advantage?</a:t>
            </a:r>
          </a:p>
          <a:p>
            <a:pPr>
              <a:defRPr sz="2000">
                <a:solidFill>
                  <a:srgbClr val="E6F0FF"/>
                </a:solidFill>
                <a:latin typeface="Arial"/>
              </a:defRPr>
            </a:pPr>
            <a:r>
              <a:t>5. Is serverless computing the same thing as cloud computing?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ctrTitle"/>
          </p:nvPr>
        </p:nvSpPr>
        <p:spPr/>
        <p:txBody>
          <a:bodyPr/>
          <a:lstStyle/>
          <a:p>
            <a:pPr>
              <a:defRPr sz="6000" b="1">
                <a:solidFill>
                  <a:srgbClr val="FFFFFF"/>
                </a:solidFill>
                <a:latin typeface="Arial"/>
              </a:defRPr>
            </a:pPr>
            <a:r>
              <a:t>Thank You!</a:t>
            </a:r>
          </a:p>
        </p:txBody>
      </p:sp>
      <p:sp>
        <p:nvSpPr>
          <p:cNvPr id="3" name="Subtitle 2"/>
          <p:cNvSpPr>
            <a:spLocks noGrp="1"/>
          </p:cNvSpPr>
          <p:nvPr>
            <p:ph type="subTitle" idx="1"/>
          </p:nvPr>
        </p:nvSpPr>
        <p:spPr/>
        <p:txBody>
          <a:bodyPr wrap="square"/>
          <a:lstStyle/>
          <a:p>
            <a:pPr>
              <a:defRPr sz="2000">
                <a:solidFill>
                  <a:srgbClr val="E6F0FF"/>
                </a:solidFill>
                <a:latin typeface="Arial"/>
              </a:defRPr>
            </a:pPr>
            <a:r>
              <a:t>Any Questions?</a:t>
            </a:r>
            <a:br/>
            <a:br/>
          </a:p>
          <a:p>
            <a:pPr>
              <a:defRPr sz="2000">
                <a:solidFill>
                  <a:srgbClr val="E6F0FF"/>
                </a:solidFill>
                <a:latin typeface="Arial"/>
              </a:defRPr>
            </a:pPr>
            <a:r>
              <a:t>"Serverless computing helps developers focus on building applications while cloud providers manage the underlying infrastructure."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